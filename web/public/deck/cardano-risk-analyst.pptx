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143000"/>
            <a:ext cx="10698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F242E"/>
                </a:solidFill>
                <a:latin typeface="Space Grotesk"/>
              </a:defRPr>
            </a:pPr>
            <a:r>
              <a:t>An approval step before your agent pays anyone on Cardano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3246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1F242E"/>
                </a:solidFill>
                <a:latin typeface="Inter"/>
              </a:defRPr>
            </a:pPr>
            <a:r>
              <a:t>A paid check between the seller’s request and the wallet signature.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71800" y="470916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A6472"/>
                </a:solidFill>
                <a:latin typeface="JetBrains Mono"/>
              </a:defRPr>
            </a:pPr>
            <a:r>
              <a:t>ARROW KEYS TO READ  /  P TO OPEN THE HUMAN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355080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6472"/>
                </a:solidFill>
                <a:latin typeface="JetBrains Mono"/>
              </a:defRPr>
            </a:pPr>
            <a:r>
              <a:t>01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98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472"/>
                </a:solidFill>
                <a:latin typeface="JetBrains Mono"/>
              </a:defRPr>
            </a:pPr>
            <a:r>
              <a:t>THE FEAR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698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100" b="1">
                <a:solidFill>
                  <a:srgbClr val="1F242E"/>
                </a:solidFill>
                <a:latin typeface="Space Grotesk"/>
              </a:defRPr>
            </a:pPr>
            <a:r>
              <a:t>Your agent holds the wallet. The seller controls the story.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36192"/>
            <a:ext cx="822960" cy="64008"/>
          </a:xfrm>
          <a:prstGeom prst="rect">
            <a:avLst/>
          </a:prstGeom>
          <a:solidFill>
            <a:srgbClr val="467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44200" y="6355080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6472"/>
                </a:solidFill>
                <a:latin typeface="JetBrains Mono"/>
              </a:defRPr>
            </a:pPr>
            <a:r>
              <a:t>02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F242E"/>
                </a:solidFill>
                <a:latin typeface="Inter"/>
              </a:defRPr>
            </a:pPr>
            <a:r>
              <a:t>A payment request can name a real address, a real asset, and a real price while nobody has checked what sits behind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43200"/>
            <a:ext cx="3429000" cy="2011680"/>
          </a:xfrm>
          <a:prstGeom prst="rect">
            <a:avLst/>
          </a:prstGeom>
          <a:solidFill>
            <a:srgbClr val="F8F9FB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42E"/>
                </a:solidFill>
                <a:latin typeface="Space Grotesk"/>
              </a:defRPr>
            </a:pPr>
            <a:r>
              <a:t>The agent sees</a:t>
            </a:r>
          </a:p>
          <a:p>
            <a:pPr>
              <a:defRPr sz="1300">
                <a:solidFill>
                  <a:srgbClr val="1F242E"/>
                </a:solidFill>
                <a:latin typeface="Inter"/>
              </a:defRPr>
            </a:pPr>
            <a:r>
              <a:t>A 402 response with an amount, asset, payTo, and resource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2743200"/>
            <a:ext cx="3429000" cy="2011680"/>
          </a:xfrm>
          <a:prstGeom prst="rect">
            <a:avLst/>
          </a:prstGeom>
          <a:solidFill>
            <a:srgbClr val="F8F9FB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42E"/>
                </a:solidFill>
                <a:latin typeface="Space Grotesk"/>
              </a:defRPr>
            </a:pPr>
            <a:r>
              <a:t>The wallet can do</a:t>
            </a:r>
          </a:p>
          <a:p>
            <a:pPr>
              <a:defRPr sz="1300">
                <a:solidFill>
                  <a:srgbClr val="1F242E"/>
                </a:solidFill>
                <a:latin typeface="Inter"/>
              </a:defRPr>
            </a:pPr>
            <a:r>
              <a:t>Sign and send value before a human inspects the counterparty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2743200"/>
            <a:ext cx="3429000" cy="2011680"/>
          </a:xfrm>
          <a:prstGeom prst="rect">
            <a:avLst/>
          </a:prstGeom>
          <a:solidFill>
            <a:srgbClr val="F8F9FB"/>
          </a:solidFill>
          <a:ln w="15240">
            <a:solidFill>
              <a:srgbClr val="46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4678E8"/>
                </a:solidFill>
                <a:latin typeface="Space Grotesk"/>
              </a:defRPr>
            </a:pPr>
            <a:r>
              <a:t>The missing step</a:t>
            </a:r>
          </a:p>
          <a:p>
            <a:pPr>
              <a:defRPr sz="1300">
                <a:solidFill>
                  <a:srgbClr val="1F242E"/>
                </a:solidFill>
                <a:latin typeface="Inter"/>
              </a:defRPr>
            </a:pPr>
            <a:r>
              <a:t>Check the asset policy, address history, and protocol surface before payment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472"/>
                </a:solidFill>
                <a:latin typeface="JetBrains Mono"/>
              </a:defRPr>
            </a:pPr>
            <a:r>
              <a:t>Cardano Risk Desk  /  x402  /  Sokosumi  /  Masumi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98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472"/>
                </a:solidFill>
                <a:latin typeface="JetBrains Mono"/>
              </a:defRPr>
            </a:pPr>
            <a:r>
              <a:t>THE PROBLEM IS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698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100" b="1">
                <a:solidFill>
                  <a:srgbClr val="1F242E"/>
                </a:solidFill>
                <a:latin typeface="Space Grotesk"/>
              </a:defRPr>
            </a:pPr>
            <a:r>
              <a:t>Payment rails do not tell an agent whether the purchase was wise.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36192"/>
            <a:ext cx="822960" cy="64008"/>
          </a:xfrm>
          <a:prstGeom prst="rect">
            <a:avLst/>
          </a:prstGeom>
          <a:solidFill>
            <a:srgbClr val="467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44200" y="6355080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6472"/>
                </a:solidFill>
                <a:latin typeface="JetBrains Mono"/>
              </a:defRPr>
            </a:pPr>
            <a:r>
              <a:t>03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42E"/>
                </a:solidFill>
                <a:latin typeface="Inter"/>
              </a:defRPr>
            </a:pPr>
            <a:r>
              <a:t>x402 contributors ask for chargebacks and better payment intent. Cardano users already see imitation tokens and rug-pull warnings.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514600"/>
            <a:ext cx="3429000" cy="2468880"/>
          </a:xfrm>
          <a:prstGeom prst="rect">
            <a:avLst/>
          </a:prstGeom>
          <a:solidFill>
            <a:srgbClr val="222731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8F9FB"/>
                </a:solidFill>
                <a:latin typeface="Space Grotesk"/>
              </a:defRPr>
            </a:pPr>
            <a:r>
              <a:t>x402 issue #508</a:t>
            </a:r>
          </a:p>
          <a:p>
            <a:pPr>
              <a:defRPr sz="1300">
                <a:solidFill>
                  <a:srgbClr val="F8F9FB"/>
                </a:solidFill>
                <a:latin typeface="JetBrains Mono"/>
              </a:defRPr>
            </a:pPr>
            <a:r>
              <a:t>Phishing-like scams behind paid pages</a:t>
            </a:r>
            <a:br/>
            <a:br/>
            <a:r>
              <a:t>github.com/x402-foundation/x402/issues/508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2514600"/>
            <a:ext cx="3429000" cy="2468880"/>
          </a:xfrm>
          <a:prstGeom prst="rect">
            <a:avLst/>
          </a:prstGeom>
          <a:solidFill>
            <a:srgbClr val="222731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8F9FB"/>
                </a:solidFill>
                <a:latin typeface="Space Grotesk"/>
              </a:defRPr>
            </a:pPr>
            <a:r>
              <a:t>x402 issue #3500</a:t>
            </a:r>
          </a:p>
          <a:p>
            <a:pPr>
              <a:defRPr sz="1300">
                <a:solidFill>
                  <a:srgbClr val="F8F9FB"/>
                </a:solidFill>
                <a:latin typeface="JetBrains Mono"/>
              </a:defRPr>
            </a:pPr>
            <a:r>
              <a:t>Agent paid $5.00 for a premium tier after asking for less</a:t>
            </a:r>
            <a:br/>
            <a:br/>
            <a:r>
              <a:t>github.com/x402-foundation/x402/issues/3500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2514600"/>
            <a:ext cx="3429000" cy="2468880"/>
          </a:xfrm>
          <a:prstGeom prst="rect">
            <a:avLst/>
          </a:prstGeom>
          <a:solidFill>
            <a:srgbClr val="F8F9FB"/>
          </a:solidFill>
          <a:ln w="15240">
            <a:solidFill>
              <a:srgbClr val="46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4678E8"/>
                </a:solidFill>
                <a:latin typeface="Space Grotesk"/>
              </a:defRPr>
            </a:pPr>
            <a:r>
              <a:t>38 / 100</a:t>
            </a:r>
          </a:p>
          <a:p>
            <a:pPr>
              <a:defRPr sz="1300">
                <a:solidFill>
                  <a:srgbClr val="1F242E"/>
                </a:solidFill>
                <a:latin typeface="Inter"/>
              </a:defRPr>
            </a:pPr>
            <a:r>
              <a:t>HN report: average fidelity across roughly 1,700 monitored services</a:t>
            </a:r>
            <a:br/>
            <a:br/>
            <a:r>
              <a:t>news.ycombinator.com/item?id=47158809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472"/>
                </a:solidFill>
                <a:latin typeface="JetBrains Mono"/>
              </a:defRPr>
            </a:pPr>
            <a:r>
              <a:t>Cardano Risk Desk  /  x402  /  Sokosumi  /  Masumi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98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472"/>
                </a:solidFill>
                <a:latin typeface="JetBrains Mono"/>
              </a:defRPr>
            </a:pPr>
            <a:r>
              <a:t>WHAT CAN GO WRONG ON CARDANO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698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100" b="1">
                <a:solidFill>
                  <a:srgbClr val="1F242E"/>
                </a:solidFill>
                <a:latin typeface="Space Grotesk"/>
              </a:defRPr>
            </a:pPr>
            <a:r>
              <a:t>The risk is in the asset, the address, and the script.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36192"/>
            <a:ext cx="822960" cy="64008"/>
          </a:xfrm>
          <a:prstGeom prst="rect">
            <a:avLst/>
          </a:prstGeom>
          <a:solidFill>
            <a:srgbClr val="467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44200" y="6355080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6472"/>
                </a:solidFill>
                <a:latin typeface="JetBrains Mono"/>
              </a:defRPr>
            </a:pPr>
            <a:r>
              <a:t>04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F242E"/>
                </a:solidFill>
                <a:latin typeface="Inter"/>
              </a:defRPr>
            </a:pPr>
            <a:r>
              <a:t>The report turns chain facts into a refusal before the agent pays.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51760"/>
            <a:ext cx="3429000" cy="2331720"/>
          </a:xfrm>
          <a:prstGeom prst="rect">
            <a:avLst/>
          </a:prstGeom>
          <a:solidFill>
            <a:srgbClr val="F8F9FB"/>
          </a:solidFill>
          <a:ln w="15240">
            <a:solidFill>
              <a:srgbClr val="46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4678E8"/>
                </a:solidFill>
                <a:latin typeface="Space Grotesk"/>
              </a:defRPr>
            </a:pPr>
            <a:r>
              <a:t>Open mint policy</a:t>
            </a:r>
          </a:p>
          <a:p>
            <a:pPr>
              <a:defRPr sz="1300">
                <a:solidFill>
                  <a:srgbClr val="1F242E"/>
                </a:solidFill>
                <a:latin typeface="Inter"/>
              </a:defRPr>
            </a:pPr>
            <a:r>
              <a:t>MIN.json</a:t>
            </a:r>
            <a:br/>
            <a:r>
              <a:t>scriptType=native</a:t>
            </a:r>
            <a:br/>
            <a:r>
              <a:t>requiredSigners=1</a:t>
            </a:r>
            <a:br/>
            <a:r>
              <a:t>mintOpen=true</a:t>
            </a:r>
            <a:br/>
            <a:br/>
            <a:r>
              <a:t>More supply can still be minted.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2651760"/>
            <a:ext cx="3429000" cy="2331720"/>
          </a:xfrm>
          <a:prstGeom prst="rect">
            <a:avLst/>
          </a:prstGeom>
          <a:solidFill>
            <a:srgbClr val="F8F9FB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42E"/>
                </a:solidFill>
                <a:latin typeface="Space Grotesk"/>
              </a:defRPr>
            </a:pPr>
            <a:r>
              <a:t>Fresh address</a:t>
            </a:r>
          </a:p>
          <a:p>
            <a:pPr>
              <a:defRPr sz="1300">
                <a:solidFill>
                  <a:srgbClr val="1F242E"/>
                </a:solidFill>
                <a:latin typeface="Inter"/>
              </a:defRPr>
            </a:pPr>
            <a:r>
              <a:t>agent-demo/runs/1791341265898.json</a:t>
            </a:r>
            <a:br/>
            <a:r>
              <a:t>Seller B tx count: 1</a:t>
            </a:r>
            <a:br/>
            <a:r>
              <a:t>First seen: 2026-10-06</a:t>
            </a:r>
            <a:br/>
            <a:br/>
            <a:r>
              <a:t>Newness becomes a condition.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2651760"/>
            <a:ext cx="3429000" cy="2331720"/>
          </a:xfrm>
          <a:prstGeom prst="rect">
            <a:avLst/>
          </a:prstGeom>
          <a:solidFill>
            <a:srgbClr val="F8F9FB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42E"/>
                </a:solidFill>
                <a:latin typeface="Space Grotesk"/>
              </a:defRPr>
            </a:pPr>
            <a:r>
              <a:t>Fake protocol script</a:t>
            </a:r>
          </a:p>
          <a:p>
            <a:pPr>
              <a:defRPr sz="1300">
                <a:solidFill>
                  <a:srgbClr val="1F242E"/>
                </a:solidFill>
                <a:latin typeface="Inter"/>
              </a:defRPr>
            </a:pPr>
            <a:r>
              <a:t>MINt.json</a:t>
            </a:r>
            <a:br/>
            <a:r>
              <a:t>mint-open / high</a:t>
            </a:r>
            <a:br/>
            <a:r>
              <a:t>liquidity: 1766.6595103971542 ADA</a:t>
            </a:r>
            <a:br/>
            <a:br/>
            <a:r>
              <a:t>A familiar name does not make an asset safe.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472"/>
                </a:solidFill>
                <a:latin typeface="JetBrains Mono"/>
              </a:defRPr>
            </a:pPr>
            <a:r>
              <a:t>Cardano Risk Desk  /  x402  /  Sokosumi  /  Masumi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98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472"/>
                </a:solidFill>
                <a:latin typeface="JetBrains Mono"/>
              </a:defRPr>
            </a:pPr>
            <a:r>
              <a:t>THE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698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100" b="1">
                <a:solidFill>
                  <a:srgbClr val="1F242E"/>
                </a:solidFill>
                <a:latin typeface="Space Grotesk"/>
              </a:defRPr>
            </a:pPr>
            <a:r>
              <a:t>x402 becomes a payment gate, not just a payment rail.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36192"/>
            <a:ext cx="822960" cy="64008"/>
          </a:xfrm>
          <a:prstGeom prst="rect">
            <a:avLst/>
          </a:prstGeom>
          <a:solidFill>
            <a:srgbClr val="467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44200" y="6355080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6472"/>
                </a:solidFill>
                <a:latin typeface="JetBrains Mono"/>
              </a:defRPr>
            </a:pPr>
            <a:r>
              <a:t>05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514600"/>
            <a:ext cx="1920240" cy="2331720"/>
          </a:xfrm>
          <a:prstGeom prst="rect">
            <a:avLst/>
          </a:prstGeom>
          <a:solidFill>
            <a:srgbClr val="F8F9FB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42E"/>
                </a:solidFill>
                <a:latin typeface="Space Grotesk"/>
              </a:defRPr>
            </a:pPr>
            <a:r>
              <a:t>402</a:t>
            </a:r>
          </a:p>
          <a:p>
            <a:pPr>
              <a:defRPr sz="1300">
                <a:solidFill>
                  <a:srgbClr val="1F242E"/>
                </a:solidFill>
                <a:latin typeface="Inter"/>
              </a:defRPr>
            </a:pPr>
            <a:r>
              <a:t>Seller asks</a:t>
            </a:r>
            <a:br/>
            <a:br/>
            <a:r>
              <a:t>asset · amount · payTo</a:t>
            </a:r>
          </a:p>
        </p:txBody>
      </p:sp>
      <p:sp>
        <p:nvSpPr>
          <p:cNvPr id="7" name="Rectangle 6"/>
          <p:cNvSpPr/>
          <p:nvPr/>
        </p:nvSpPr>
        <p:spPr>
          <a:xfrm>
            <a:off x="2880360" y="2514600"/>
            <a:ext cx="1920240" cy="2331720"/>
          </a:xfrm>
          <a:prstGeom prst="rect">
            <a:avLst/>
          </a:prstGeom>
          <a:solidFill>
            <a:srgbClr val="F8F9FB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42E"/>
                </a:solidFill>
                <a:latin typeface="Space Grotesk"/>
              </a:defRPr>
            </a:pPr>
            <a:r>
              <a:t>01</a:t>
            </a:r>
          </a:p>
          <a:p>
            <a:pPr>
              <a:defRPr sz="1300">
                <a:solidFill>
                  <a:srgbClr val="1F242E"/>
                </a:solidFill>
                <a:latin typeface="Inter"/>
              </a:defRPr>
            </a:pPr>
            <a:r>
              <a:t>Risk Desk</a:t>
            </a:r>
            <a:br/>
            <a:br/>
            <a:r>
              <a:t>paid assessment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2514600"/>
            <a:ext cx="1920240" cy="2331720"/>
          </a:xfrm>
          <a:prstGeom prst="rect">
            <a:avLst/>
          </a:prstGeom>
          <a:solidFill>
            <a:srgbClr val="F8F9FB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42E"/>
                </a:solidFill>
                <a:latin typeface="Space Grotesk"/>
              </a:defRPr>
            </a:pPr>
            <a:r>
              <a:t>02</a:t>
            </a:r>
          </a:p>
          <a:p>
            <a:pPr>
              <a:defRPr sz="1300">
                <a:solidFill>
                  <a:srgbClr val="1F242E"/>
                </a:solidFill>
                <a:latin typeface="Inter"/>
              </a:defRPr>
            </a:pPr>
            <a:r>
              <a:t>Evidence</a:t>
            </a:r>
            <a:br/>
            <a:br/>
            <a:r>
              <a:t>policy · address · script</a:t>
            </a:r>
          </a:p>
        </p:txBody>
      </p:sp>
      <p:sp>
        <p:nvSpPr>
          <p:cNvPr id="9" name="Rectangle 8"/>
          <p:cNvSpPr/>
          <p:nvPr/>
        </p:nvSpPr>
        <p:spPr>
          <a:xfrm>
            <a:off x="7360920" y="2514600"/>
            <a:ext cx="1920240" cy="2331720"/>
          </a:xfrm>
          <a:prstGeom prst="rect">
            <a:avLst/>
          </a:prstGeom>
          <a:solidFill>
            <a:srgbClr val="F8F9FB"/>
          </a:solidFill>
          <a:ln w="15240">
            <a:solidFill>
              <a:srgbClr val="46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4678E8"/>
                </a:solidFill>
                <a:latin typeface="Space Grotesk"/>
              </a:defRPr>
            </a:pPr>
            <a:r>
              <a:t>03</a:t>
            </a:r>
          </a:p>
          <a:p>
            <a:pPr>
              <a:defRPr sz="1300">
                <a:solidFill>
                  <a:srgbClr val="1F242E"/>
                </a:solidFill>
                <a:latin typeface="Inter"/>
              </a:defRPr>
            </a:pPr>
            <a:r>
              <a:t>Decision</a:t>
            </a:r>
            <a:br/>
            <a:br/>
            <a:r>
              <a:t>interact or refuse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0" y="2514600"/>
            <a:ext cx="1920240" cy="2331720"/>
          </a:xfrm>
          <a:prstGeom prst="rect">
            <a:avLst/>
          </a:prstGeom>
          <a:solidFill>
            <a:srgbClr val="F8F9FB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42E"/>
                </a:solidFill>
                <a:latin typeface="Space Grotesk"/>
              </a:defRPr>
            </a:pPr>
            <a:r>
              <a:t>04</a:t>
            </a:r>
          </a:p>
          <a:p>
            <a:pPr>
              <a:defRPr sz="1300">
                <a:solidFill>
                  <a:srgbClr val="1F242E"/>
                </a:solidFill>
                <a:latin typeface="Inter"/>
              </a:defRPr>
            </a:pPr>
            <a:r>
              <a:t>Payment</a:t>
            </a:r>
            <a:br/>
            <a:br/>
            <a:r>
              <a:t>sign only after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472"/>
                </a:solidFill>
                <a:latin typeface="JetBrains Mono"/>
              </a:defRPr>
            </a:pPr>
            <a:r>
              <a:t>Cardano Risk Desk  /  x402  /  Sokosumi  /  Masumi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98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472"/>
                </a:solidFill>
                <a:latin typeface="JetBrains Mono"/>
              </a:defRPr>
            </a:pPr>
            <a:r>
              <a:t>PREPROD RUN / agent-demo/runs/1791341265898.json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698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100" b="1">
                <a:solidFill>
                  <a:srgbClr val="1F242E"/>
                </a:solidFill>
                <a:latin typeface="Space Grotesk"/>
              </a:defRPr>
            </a:pPr>
            <a:r>
              <a:t>The check sent one seller payment and stopped the other.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36192"/>
            <a:ext cx="822960" cy="64008"/>
          </a:xfrm>
          <a:prstGeom prst="rect">
            <a:avLst/>
          </a:prstGeom>
          <a:solidFill>
            <a:srgbClr val="467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44200" y="6355080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6472"/>
                </a:solidFill>
                <a:latin typeface="JetBrains Mono"/>
              </a:defRPr>
            </a:pPr>
            <a:r>
              <a:t>06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42E"/>
                </a:solidFill>
                <a:latin typeface="Inter"/>
              </a:defRPr>
            </a:pPr>
            <a:r>
              <a:t>The same agent handled both 402 responses on Cardano preprod. Koios confirms every proof transaction.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514600"/>
            <a:ext cx="3429000" cy="2514600"/>
          </a:xfrm>
          <a:prstGeom prst="rect">
            <a:avLst/>
          </a:prstGeom>
          <a:solidFill>
            <a:srgbClr val="F8F9FB"/>
          </a:solidFill>
          <a:ln w="15240">
            <a:solidFill>
              <a:srgbClr val="46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4678E8"/>
                </a:solidFill>
                <a:latin typeface="Space Grotesk"/>
              </a:defRPr>
            </a:pPr>
            <a:r>
              <a:t>Seller A / INTERACT</a:t>
            </a:r>
          </a:p>
          <a:p>
            <a:pPr>
              <a:defRPr sz="1300">
                <a:solidFill>
                  <a:srgbClr val="1F242E"/>
                </a:solidFill>
                <a:latin typeface="Inter"/>
              </a:defRPr>
            </a:pPr>
            <a:r>
              <a:t>Quote: 2,000,000 lovelace</a:t>
            </a:r>
            <a:br/>
            <a:br/>
            <a:r>
              <a:t>Risk check 91ae89f5...</a:t>
            </a:r>
            <a:br/>
            <a:r>
              <a:t>Seller paid 6f514c89...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2514600"/>
            <a:ext cx="3429000" cy="2514600"/>
          </a:xfrm>
          <a:prstGeom prst="rect">
            <a:avLst/>
          </a:prstGeom>
          <a:solidFill>
            <a:srgbClr val="F8F9FB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42E"/>
                </a:solidFill>
                <a:latin typeface="Space Grotesk"/>
              </a:defRPr>
            </a:pPr>
            <a:r>
              <a:t>Seller B / DO_NOT_INTERACT</a:t>
            </a:r>
          </a:p>
          <a:p>
            <a:pPr>
              <a:defRPr sz="1300">
                <a:solidFill>
                  <a:srgbClr val="1F242E"/>
                </a:solidFill>
                <a:latin typeface="Inter"/>
              </a:defRPr>
            </a:pPr>
            <a:r>
              <a:t>Quote: 5 custom-token units</a:t>
            </a:r>
            <a:br/>
            <a:br/>
            <a:r>
              <a:t>Risk check c063f45b...</a:t>
            </a:r>
            <a:br/>
            <a:r>
              <a:t>Reason: asset-mint-open</a:t>
            </a:r>
            <a:br/>
            <a:r>
              <a:t>Seller payment was not sent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2514600"/>
            <a:ext cx="3429000" cy="2514600"/>
          </a:xfrm>
          <a:prstGeom prst="rect">
            <a:avLst/>
          </a:prstGeom>
          <a:solidFill>
            <a:srgbClr val="222731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8F9FB"/>
                </a:solidFill>
                <a:latin typeface="Space Grotesk"/>
              </a:defRPr>
            </a:pPr>
            <a:r>
              <a:t>The branch</a:t>
            </a:r>
          </a:p>
          <a:p>
            <a:pPr>
              <a:defRPr sz="1300">
                <a:solidFill>
                  <a:srgbClr val="F8F9FB"/>
                </a:solidFill>
                <a:latin typeface="JetBrains Mono"/>
              </a:defRPr>
            </a:pPr>
            <a:r>
              <a:t>INTERACT  →  pay seller</a:t>
            </a:r>
            <a:br/>
            <a:br/>
            <a:r>
              <a:t>DO_NOT_INTERACT  →  refuse seller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472"/>
                </a:solidFill>
                <a:latin typeface="JetBrains Mono"/>
              </a:defRPr>
            </a:pPr>
            <a:r>
              <a:t>Cardano Risk Desk  /  x402  /  Sokosumi  /  Masumi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98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472"/>
                </a:solidFill>
                <a:latin typeface="JetBrains Mono"/>
              </a:defRPr>
            </a:pPr>
            <a:r>
              <a:t>PRODUCTION PROOF / web/lib/x402/LIVE-PROOF.json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698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100" b="1">
                <a:solidFill>
                  <a:srgbClr val="1F242E"/>
                </a:solidFill>
                <a:latin typeface="Space Grotesk"/>
              </a:defRPr>
            </a:pPr>
            <a:r>
              <a:t>The live endpoint settles once and rejects a replay.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36192"/>
            <a:ext cx="822960" cy="64008"/>
          </a:xfrm>
          <a:prstGeom prst="rect">
            <a:avLst/>
          </a:prstGeom>
          <a:solidFill>
            <a:srgbClr val="467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44200" y="6355080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6472"/>
                </a:solidFill>
                <a:latin typeface="JetBrains Mono"/>
              </a:defRPr>
            </a:pPr>
            <a:r>
              <a:t>07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42E"/>
                </a:solidFill>
                <a:latin typeface="Inter"/>
              </a:defRPr>
            </a:pPr>
            <a:r>
              <a:t>The production x402 call returned INTERACT. The same payment presented again returned HTTP 409.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06040"/>
            <a:ext cx="5166360" cy="2514600"/>
          </a:xfrm>
          <a:prstGeom prst="rect">
            <a:avLst/>
          </a:prstGeom>
          <a:solidFill>
            <a:srgbClr val="F8F9FB"/>
          </a:solidFill>
          <a:ln w="15240">
            <a:solidFill>
              <a:srgbClr val="46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4678E8"/>
                </a:solidFill>
                <a:latin typeface="Space Grotesk"/>
              </a:defRPr>
            </a:pPr>
            <a:r>
              <a:t>Cardano preprod</a:t>
            </a:r>
          </a:p>
          <a:p>
            <a:pPr>
              <a:defRPr sz="1300">
                <a:solidFill>
                  <a:srgbClr val="1F242E"/>
                </a:solidFill>
                <a:latin typeface="Inter"/>
              </a:defRPr>
            </a:pPr>
            <a:r>
              <a:t>Endpoint: cardano-risk-coworker.vercel.app/api/x402/risk-check</a:t>
            </a:r>
            <a:br/>
            <a:br/>
            <a:r>
              <a:t>Paid: HTTP 200</a:t>
            </a:r>
            <a:br/>
            <a:r>
              <a:t>Decision: INTERACT</a:t>
            </a:r>
            <a:br/>
            <a:r>
              <a:t>Koios confirmations: 1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2606040"/>
            <a:ext cx="5349240" cy="2514600"/>
          </a:xfrm>
          <a:prstGeom prst="rect">
            <a:avLst/>
          </a:prstGeom>
          <a:solidFill>
            <a:srgbClr val="222731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8F9FB"/>
                </a:solidFill>
                <a:latin typeface="Space Grotesk"/>
              </a:defRPr>
            </a:pPr>
            <a:r>
              <a:t>Replay protection</a:t>
            </a:r>
          </a:p>
          <a:p>
            <a:pPr>
              <a:defRPr sz="1300">
                <a:solidFill>
                  <a:srgbClr val="F8F9FB"/>
                </a:solidFill>
                <a:latin typeface="JetBrains Mono"/>
              </a:defRPr>
            </a:pPr>
            <a:r>
              <a:t>Same payment</a:t>
            </a:r>
            <a:br/>
            <a:br/>
            <a:r>
              <a:t>HTTP 409</a:t>
            </a:r>
            <a:br/>
            <a:br/>
            <a:r>
              <a:t>66d28ffbb319d191ee62bc0833af6af031c463604cba5b2121f007ce705dd5ba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472"/>
                </a:solidFill>
                <a:latin typeface="JetBrains Mono"/>
              </a:defRPr>
            </a:pPr>
            <a:r>
              <a:t>Cardano Risk Desk  /  x402  /  Sokosumi  /  Masumi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98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472"/>
                </a:solidFill>
                <a:latin typeface="JetBrains Mono"/>
              </a:defRPr>
            </a:pPr>
            <a:r>
              <a:t>ONE-LINE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698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100" b="1">
                <a:solidFill>
                  <a:srgbClr val="1F242E"/>
                </a:solidFill>
                <a:latin typeface="Space Grotesk"/>
              </a:defRPr>
            </a:pPr>
            <a:r>
              <a:t>Put the Risk Desk where the wallet would have signed.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36192"/>
            <a:ext cx="822960" cy="64008"/>
          </a:xfrm>
          <a:prstGeom prst="rect">
            <a:avLst/>
          </a:prstGeom>
          <a:solidFill>
            <a:srgbClr val="467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44200" y="6355080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6472"/>
                </a:solidFill>
                <a:latin typeface="JetBrains Mono"/>
              </a:defRPr>
            </a:pPr>
            <a:r>
              <a:t>08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F242E"/>
                </a:solidFill>
                <a:latin typeface="Inter"/>
              </a:defRPr>
            </a:pPr>
            <a:r>
              <a:t>The agent keeps its existing seller call. Add one paid check before the final payment.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514600"/>
            <a:ext cx="10881360" cy="1508760"/>
          </a:xfrm>
          <a:prstGeom prst="rect">
            <a:avLst/>
          </a:prstGeom>
          <a:solidFill>
            <a:srgbClr val="222731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8F9FB"/>
                </a:solidFill>
                <a:latin typeface="Space Grotesk"/>
              </a:defRPr>
            </a:pPr>
            <a:r>
              <a:t>curl</a:t>
            </a:r>
          </a:p>
          <a:p>
            <a:pPr>
              <a:defRPr sz="1300">
                <a:solidFill>
                  <a:srgbClr val="F8F9FB"/>
                </a:solidFill>
                <a:latin typeface="JetBrains Mono"/>
              </a:defRPr>
            </a:pPr>
            <a:r>
              <a:t>curl -i https://cardano-risk-coworker.vercel.app/api/x402/risk-check \\</a:t>
            </a:r>
            <a:br/>
            <a:r>
              <a:t>  -H 'x-payment: &lt;signed-cardano-payment&gt;'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1772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F242E"/>
                </a:solidFill>
                <a:latin typeface="Inter"/>
              </a:defRPr>
            </a:pPr>
            <a:r>
              <a:t>402  →  pay the Risk Desk  →  read the assessment  →  continue or refuse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472"/>
                </a:solidFill>
                <a:latin typeface="JetBrains Mono"/>
              </a:defRPr>
            </a:pPr>
            <a:r>
              <a:t>Cardano Risk Desk  /  x402  /  Sokosumi  /  Masumi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98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472"/>
                </a:solidFill>
                <a:latin typeface="JetBrains Mono"/>
              </a:defRPr>
            </a:pPr>
            <a:r>
              <a:t>WHY CARDANO + MASUMI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698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100" b="1">
                <a:solidFill>
                  <a:srgbClr val="1F242E"/>
                </a:solidFill>
                <a:latin typeface="Space Grotesk"/>
              </a:defRPr>
            </a:pPr>
            <a:r>
              <a:t>Cardano supplies the evidence. Masumi supplies the accountable work.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36192"/>
            <a:ext cx="822960" cy="64008"/>
          </a:xfrm>
          <a:prstGeom prst="rect">
            <a:avLst/>
          </a:prstGeom>
          <a:solidFill>
            <a:srgbClr val="467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44200" y="6355080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6472"/>
                </a:solidFill>
                <a:latin typeface="JetBrains Mono"/>
              </a:defRPr>
            </a:pPr>
            <a:r>
              <a:t>09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5212080" cy="2743200"/>
          </a:xfrm>
          <a:prstGeom prst="rect">
            <a:avLst/>
          </a:prstGeom>
          <a:solidFill>
            <a:srgbClr val="F8F9FB"/>
          </a:solidFill>
          <a:ln w="15240">
            <a:solidFill>
              <a:srgbClr val="46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4678E8"/>
                </a:solidFill>
                <a:latin typeface="Space Grotesk"/>
              </a:defRPr>
            </a:pPr>
            <a:r>
              <a:t>Cardano</a:t>
            </a:r>
          </a:p>
          <a:p>
            <a:pPr>
              <a:defRPr sz="1300">
                <a:solidFill>
                  <a:srgbClr val="1F242E"/>
                </a:solidFill>
                <a:latin typeface="Inter"/>
              </a:defRPr>
            </a:pPr>
            <a:r>
              <a:t>Native asset policies expose mint authority.</a:t>
            </a:r>
            <a:br/>
            <a:br/>
            <a:r>
              <a:t>Addresses and scripts are inspectable on chain.</a:t>
            </a:r>
            <a:br/>
            <a:br/>
            <a:r>
              <a:t>Koios turns those facts into cited evidence.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2057400"/>
            <a:ext cx="5303520" cy="2743200"/>
          </a:xfrm>
          <a:prstGeom prst="rect">
            <a:avLst/>
          </a:prstGeom>
          <a:solidFill>
            <a:srgbClr val="F8F9FB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42E"/>
                </a:solidFill>
                <a:latin typeface="Space Grotesk"/>
              </a:defRPr>
            </a:pPr>
            <a:r>
              <a:t>Masumi</a:t>
            </a:r>
          </a:p>
          <a:p>
            <a:pPr>
              <a:defRPr sz="1300">
                <a:solidFill>
                  <a:srgbClr val="1F242E"/>
                </a:solidFill>
                <a:latin typeface="Inter"/>
              </a:defRPr>
            </a:pPr>
            <a:r>
              <a:t>The Coworker is discoverable through Sokosumi.</a:t>
            </a:r>
            <a:br/>
            <a:br/>
            <a:r>
              <a:t>A task makes the decision accountable.</a:t>
            </a:r>
            <a:br/>
            <a:br/>
            <a:r>
              <a:t>Payment turns the check into a service an agent can hire.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472"/>
                </a:solidFill>
                <a:latin typeface="JetBrains Mono"/>
              </a:defRPr>
            </a:pPr>
            <a:r>
              <a:t>Cardano Risk Desk  /  x402  /  Sokosumi  /  Masumi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05840"/>
            <a:ext cx="10698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472"/>
                </a:solidFill>
                <a:latin typeface="JetBrains Mono"/>
              </a:defRPr>
            </a:pPr>
            <a:r>
              <a:t>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F242E"/>
                </a:solidFill>
                <a:latin typeface="Space Grotesk"/>
              </a:defRPr>
            </a:pPr>
            <a:r>
              <a:t>Let the agent move fast. Make the wallet ask first.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31546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0">
                <a:solidFill>
                  <a:srgbClr val="1F242E"/>
                </a:solidFill>
                <a:latin typeface="Inter"/>
              </a:defRPr>
            </a:pPr>
            <a:r>
              <a:t>Cardano Risk Analyst is the approval step before an autonomous payment becomes an irreversible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800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4678E8"/>
                </a:solidFill>
                <a:latin typeface="JetBrains Mono"/>
              </a:defRPr>
            </a:pPr>
            <a:r>
              <a:t>REQUEST   →   CHECK   →   APPROVE OR REFUSE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6355080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6472"/>
                </a:solidFill>
                <a:latin typeface="JetBrains Mono"/>
              </a:defRPr>
            </a:pPr>
            <a: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